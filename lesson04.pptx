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89" r:id="rId2"/>
    <p:sldId id="390" r:id="rId3"/>
    <p:sldId id="382" r:id="rId4"/>
    <p:sldId id="391" r:id="rId5"/>
    <p:sldId id="392" r:id="rId6"/>
    <p:sldId id="371" r:id="rId7"/>
    <p:sldId id="383" r:id="rId8"/>
    <p:sldId id="387" r:id="rId9"/>
    <p:sldId id="388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59" autoAdjust="0"/>
  </p:normalViewPr>
  <p:slideViewPr>
    <p:cSldViewPr>
      <p:cViewPr>
        <p:scale>
          <a:sx n="75" d="100"/>
          <a:sy n="75" d="100"/>
        </p:scale>
        <p:origin x="1914" y="6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22811-C5C6-42D2-A409-F8556720C93F}" type="datetimeFigureOut">
              <a:rPr lang="uk-UA" smtClean="0"/>
              <a:pPr/>
              <a:t>01.12.2020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68688-711B-4328-ACFB-54B46FA90133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234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5299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6AC4-C3FE-4E70-88D1-136405B25267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2E168-B245-4D8D-8538-B29990DBF87B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AF6E-7007-4E61-B36E-794BF232B234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41DD-FE72-44AA-B946-B70892F1F5B7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4DC7C-6CC4-4D1F-A21B-A650800E0532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3FA-BE70-4E9D-A1A2-A798C2E22C2C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E9D1B-A194-48C6-B5A1-4C29D0F81227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5B78-3AEE-4E8C-84A2-DF8B252C6B7D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6AC05-7690-4D29-B090-15CFA8055B58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5949-5AE9-41F1-B18C-DA1006B0E8CC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27C-94C5-4BA1-A89C-1C7570144B22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8AB5-85A2-4D58-9351-A198925B541D}" type="datetime1">
              <a:rPr lang="uk-UA" smtClean="0"/>
              <a:pPr/>
              <a:t>01.12.2020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filebase.xyz/storage/qa/deposit-calc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neocitie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43335"/>
            <a:ext cx="1219200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+mj-lt"/>
              </a:rPr>
              <a:t>Web Basis</a:t>
            </a:r>
            <a:r>
              <a:rPr lang="ru-RU" sz="44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ru-RU" sz="4400" b="1" dirty="0" smtClean="0">
                <a:solidFill>
                  <a:srgbClr val="FFFF00"/>
                </a:solidFill>
                <a:latin typeface="+mj-lt"/>
              </a:rPr>
              <a:t>Применение</a:t>
            </a:r>
            <a:endParaRPr lang="uk-UA" sz="4400" b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1" y="5684704"/>
            <a:ext cx="1219200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3200" b="1" dirty="0" smtClean="0">
                <a:solidFill>
                  <a:schemeClr val="bg1"/>
                </a:solidFill>
                <a:cs typeface="Segoe UI Semibold" panose="020B0702040204020203" pitchFamily="34" charset="0"/>
              </a:rPr>
              <a:t>ORT</a:t>
            </a:r>
            <a:r>
              <a:rPr lang="en-US" sz="3200" b="1" dirty="0" smtClean="0">
                <a:solidFill>
                  <a:srgbClr val="15DFED"/>
                </a:solidFill>
                <a:cs typeface="Segoe UI Semibold" panose="020B0702040204020203" pitchFamily="34" charset="0"/>
              </a:rPr>
              <a:t>DNIPRO</a:t>
            </a:r>
            <a:r>
              <a:rPr lang="en-US" sz="3200" b="1" dirty="0" smtClean="0">
                <a:solidFill>
                  <a:schemeClr val="bg1"/>
                </a:solidFill>
                <a:cs typeface="Segoe UI Semibold" panose="020B0702040204020203" pitchFamily="34" charset="0"/>
              </a:rPr>
              <a:t>.ORG</a:t>
            </a:r>
            <a:r>
              <a:rPr lang="en-US" sz="3200" b="1" dirty="0" smtClean="0">
                <a:solidFill>
                  <a:srgbClr val="17DDEC"/>
                </a:solidFill>
                <a:cs typeface="Segoe UI Semibold" panose="020B0702040204020203" pitchFamily="34" charset="0"/>
              </a:rPr>
              <a:t>/QA</a:t>
            </a:r>
            <a:endParaRPr lang="en-US" sz="3600" b="1" dirty="0">
              <a:solidFill>
                <a:srgbClr val="17DDEC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0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5157192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qa16</a:t>
            </a:r>
            <a:r>
              <a:rPr lang="en-US" sz="6000" b="1" dirty="0" smtClean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 smtClean="0">
                <a:solidFill>
                  <a:srgbClr val="00B050"/>
                </a:solidFill>
                <a:latin typeface="+mj-lt"/>
              </a:rPr>
              <a:t>ortdnipro</a:t>
            </a:r>
            <a:r>
              <a:rPr lang="en-US" sz="6000" b="1" dirty="0" smtClean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 smtClean="0">
                <a:solidFill>
                  <a:srgbClr val="0070C0"/>
                </a:solidFill>
                <a:latin typeface="+mj-lt"/>
              </a:rPr>
              <a:t>org</a:t>
            </a:r>
            <a:endParaRPr lang="uk-UA" sz="5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136560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01505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rgbClr val="0070C0"/>
                </a:solidFill>
              </a:rPr>
              <a:t>Наша группа</a:t>
            </a:r>
            <a:r>
              <a:rPr lang="en-US" sz="6600" b="1" dirty="0">
                <a:solidFill>
                  <a:srgbClr val="0070C0"/>
                </a:solidFill>
              </a:rPr>
              <a:t>:</a:t>
            </a:r>
            <a:r>
              <a:rPr lang="ru-RU" sz="6600" b="1" dirty="0">
                <a:solidFill>
                  <a:srgbClr val="0070C0"/>
                </a:solidFill>
              </a:rPr>
              <a:t> </a:t>
            </a:r>
            <a:r>
              <a:rPr lang="en-US" sz="8000" b="1" dirty="0" smtClean="0">
                <a:solidFill>
                  <a:srgbClr val="C00000"/>
                </a:solidFill>
              </a:rPr>
              <a:t>QA16</a:t>
            </a:r>
            <a:endParaRPr lang="ru-RU" sz="6600" b="1" dirty="0">
              <a:solidFill>
                <a:srgbClr val="C00000"/>
              </a:solidFill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4511824" y="3501008"/>
            <a:ext cx="2997146" cy="1152128"/>
            <a:chOff x="5516438" y="3825044"/>
            <a:chExt cx="2997146" cy="1152128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6438" y="3825044"/>
              <a:ext cx="1152128" cy="11521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26" name="Picture 2" descr="https://image.flaticon.com/icons/png/512/25/25437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2755" y="3865693"/>
              <a:ext cx="1070829" cy="1070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Заголовок 1"/>
          <p:cNvSpPr txBox="1">
            <a:spLocks/>
          </p:cNvSpPr>
          <p:nvPr/>
        </p:nvSpPr>
        <p:spPr>
          <a:xfrm>
            <a:off x="2206302" y="18926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4000" b="1" dirty="0" smtClean="0"/>
              <a:t>Где взять материалы</a:t>
            </a:r>
            <a:r>
              <a:rPr lang="en-US" sz="4000" b="1" dirty="0" smtClean="0"/>
              <a:t>?</a:t>
            </a:r>
            <a:endParaRPr lang="ru-RU" sz="40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547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 smtClean="0"/>
              <a:t>1. </a:t>
            </a:r>
            <a:r>
              <a:rPr lang="ru-RU" sz="7200" b="1" dirty="0" smtClean="0"/>
              <a:t>Задача</a:t>
            </a:r>
            <a:endParaRPr lang="uk-UA" sz="7200" b="1" dirty="0"/>
          </a:p>
        </p:txBody>
      </p:sp>
    </p:spTree>
    <p:extLst>
      <p:ext uri="{BB962C8B-B14F-4D97-AF65-F5344CB8AC3E}">
        <p14:creationId xmlns:p14="http://schemas.microsoft.com/office/powerpoint/2010/main" val="334723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0" y="901210"/>
            <a:ext cx="12192000" cy="583574"/>
          </a:xfrm>
        </p:spPr>
        <p:txBody>
          <a:bodyPr>
            <a:noAutofit/>
          </a:bodyPr>
          <a:lstStyle/>
          <a:p>
            <a:r>
              <a:rPr lang="ru-RU" b="1" dirty="0"/>
              <a:t>Депозитный </a:t>
            </a:r>
            <a:r>
              <a:rPr lang="ru-RU" b="1" dirty="0" smtClean="0"/>
              <a:t>калькулятор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5" name="Номер слайда 36"/>
          <p:cNvSpPr txBox="1">
            <a:spLocks/>
          </p:cNvSpPr>
          <p:nvPr/>
        </p:nvSpPr>
        <p:spPr>
          <a:xfrm>
            <a:off x="11208568" y="6191519"/>
            <a:ext cx="486054" cy="324036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/>
          <a:lstStyle/>
          <a:p>
            <a:pPr algn="ctr">
              <a:defRPr/>
            </a:pPr>
            <a:fld id="{6389AA22-90B4-448C-8B6B-C699140D38B9}" type="slidenum">
              <a:rPr lang="uk-UA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4</a:t>
            </a:fld>
            <a:endParaRPr lang="uk-UA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9496" y="2272804"/>
            <a:ext cx="92890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Заданы: </a:t>
            </a:r>
            <a:r>
              <a:rPr lang="ru-RU" sz="2800" dirty="0" smtClean="0"/>
              <a:t>Есть </a:t>
            </a:r>
            <a:r>
              <a:rPr lang="ru-RU" sz="2800" b="1" dirty="0" smtClean="0"/>
              <a:t>сумма депозита</a:t>
            </a:r>
            <a:r>
              <a:rPr lang="ru-RU" sz="2800" dirty="0" smtClean="0"/>
              <a:t>, </a:t>
            </a:r>
            <a:r>
              <a:rPr lang="ru-RU" sz="2800" b="1" dirty="0" smtClean="0"/>
              <a:t>годовая процентная ставка</a:t>
            </a:r>
            <a:r>
              <a:rPr lang="ru-RU" sz="2800" dirty="0" smtClean="0"/>
              <a:t>, и </a:t>
            </a:r>
            <a:r>
              <a:rPr lang="ru-RU" sz="2800" b="1" dirty="0" smtClean="0"/>
              <a:t>срок размещения вклада в месяцах</a:t>
            </a:r>
            <a:r>
              <a:rPr lang="ru-RU" sz="2800" dirty="0" smtClean="0"/>
              <a:t>. Необходимо </a:t>
            </a:r>
            <a:r>
              <a:rPr lang="ru-RU" sz="2800" b="1" dirty="0" smtClean="0"/>
              <a:t>рассчитать</a:t>
            </a:r>
            <a:r>
              <a:rPr lang="ru-RU" sz="2800" dirty="0" smtClean="0"/>
              <a:t> сколько денег по окончанию получит вкладчик (сумма </a:t>
            </a:r>
            <a:r>
              <a:rPr lang="ru-RU" sz="2800" b="1" dirty="0" smtClean="0"/>
              <a:t>вклада</a:t>
            </a:r>
            <a:r>
              <a:rPr lang="ru-RU" sz="2800" dirty="0" smtClean="0"/>
              <a:t> + </a:t>
            </a:r>
            <a:r>
              <a:rPr lang="ru-RU" sz="2800" b="1" dirty="0" smtClean="0"/>
              <a:t>проценты</a:t>
            </a:r>
            <a:r>
              <a:rPr lang="ru-RU" sz="2800" dirty="0" smtClean="0"/>
              <a:t>). </a:t>
            </a:r>
            <a:r>
              <a:rPr lang="ru-RU" sz="2800" b="1" dirty="0" smtClean="0"/>
              <a:t>Считать</a:t>
            </a:r>
            <a:r>
              <a:rPr lang="ru-RU" sz="2800" dirty="0" smtClean="0"/>
              <a:t>, что расчёт процентов выполняется помесячно</a:t>
            </a:r>
            <a:r>
              <a:rPr lang="en-US" sz="2800" dirty="0" smtClean="0"/>
              <a:t> (</a:t>
            </a:r>
            <a:r>
              <a:rPr lang="ru-RU" sz="2800" dirty="0" smtClean="0"/>
              <a:t>и их капитализация</a:t>
            </a:r>
            <a:r>
              <a:rPr lang="en-US" sz="2800" dirty="0" smtClean="0"/>
              <a:t>)</a:t>
            </a:r>
            <a:r>
              <a:rPr lang="ru-RU" sz="2800" dirty="0" smtClean="0"/>
              <a:t> без влияния количества дней в месяце, также не учитываем налоги.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0331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0" y="685186"/>
            <a:ext cx="12192000" cy="583574"/>
          </a:xfrm>
        </p:spPr>
        <p:txBody>
          <a:bodyPr>
            <a:noAutofit/>
          </a:bodyPr>
          <a:lstStyle/>
          <a:p>
            <a:r>
              <a:rPr lang="ru-RU" b="1" dirty="0"/>
              <a:t>Депозитный </a:t>
            </a:r>
            <a:r>
              <a:rPr lang="ru-RU" b="1" dirty="0" smtClean="0"/>
              <a:t>калькулятор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5" name="Номер слайда 36"/>
          <p:cNvSpPr txBox="1">
            <a:spLocks/>
          </p:cNvSpPr>
          <p:nvPr/>
        </p:nvSpPr>
        <p:spPr>
          <a:xfrm>
            <a:off x="11208568" y="6191519"/>
            <a:ext cx="486054" cy="324036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/>
          <a:lstStyle/>
          <a:p>
            <a:pPr algn="ctr">
              <a:defRPr/>
            </a:pPr>
            <a:fld id="{6389AA22-90B4-448C-8B6B-C699140D38B9}" type="slidenum">
              <a:rPr lang="uk-UA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5</a:t>
            </a:fld>
            <a:endParaRPr lang="uk-UA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209864" y="4797152"/>
                <a:ext cx="6424259" cy="11410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1" i="1">
                          <a:latin typeface="Cambria Math" panose="02040503050406030204" pitchFamily="18" charset="0"/>
                        </a:rPr>
                        <m:t>𝑹𝒆𝒔𝒖𝒍𝒕</m:t>
                      </m:r>
                      <m:r>
                        <a:rPr lang="ru-RU" sz="3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b="1" i="1">
                          <a:latin typeface="Cambria Math" panose="02040503050406030204" pitchFamily="18" charset="0"/>
                        </a:rPr>
                        <m:t>𝑺𝒖𝒎</m:t>
                      </m:r>
                      <m:r>
                        <a:rPr lang="ru-RU" sz="3200" b="1" i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ru-RU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3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2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ru-RU" sz="32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  <m:t>𝑹𝒂𝒕𝒆</m:t>
                                  </m:r>
                                </m:num>
                                <m:den>
                                  <m:r>
                                    <a:rPr lang="ru-RU" sz="3200" b="1" i="0">
                                      <a:latin typeface="Cambria Math" panose="02040503050406030204" pitchFamily="18" charset="0"/>
                                    </a:rPr>
                                    <m:t>𝟏𝟎𝟎</m:t>
                                  </m:r>
                                  <m:r>
                                    <a:rPr lang="ru-RU" sz="3200" b="1" i="0">
                                      <a:latin typeface="Cambria Math" panose="02040503050406030204" pitchFamily="18" charset="0"/>
                                    </a:rPr>
                                    <m:t>%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𝑻𝒆𝒓𝒎</m:t>
                          </m:r>
                        </m:sup>
                      </m:sSup>
                    </m:oMath>
                  </m:oMathPara>
                </a14:m>
                <a:endParaRPr lang="ru-RU" sz="3200" b="1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864" y="4797152"/>
                <a:ext cx="6424259" cy="11410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357163" y="4603082"/>
            <a:ext cx="397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i="1" dirty="0" smtClean="0"/>
              <a:t>Формула </a:t>
            </a:r>
            <a:r>
              <a:rPr lang="ru-RU" sz="2400" i="1" dirty="0" smtClean="0"/>
              <a:t>с капитализацией:</a:t>
            </a:r>
            <a:endParaRPr lang="ru-RU" sz="2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2351584" y="2696586"/>
                <a:ext cx="7176195" cy="815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𝑹𝒆𝒔𝒖𝒍𝒕</m:t>
                    </m:r>
                    <m:r>
                      <a:rPr lang="ru-RU" sz="3200" b="1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3200" b="1" i="1">
                        <a:latin typeface="Cambria Math" panose="02040503050406030204" pitchFamily="18" charset="0"/>
                      </a:rPr>
                      <m:t>𝑺𝒖𝒎</m:t>
                    </m:r>
                    <m:r>
                      <a:rPr lang="ru-RU" sz="32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u-RU" sz="32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3200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3200" b="1" i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ru-RU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3200" b="1" i="1">
                            <a:latin typeface="Cambria Math" panose="02040503050406030204" pitchFamily="18" charset="0"/>
                          </a:rPr>
                          <m:t>𝑹𝒂𝒕𝒆</m:t>
                        </m:r>
                      </m:num>
                      <m:den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ru-RU" sz="3200" b="1"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ru-RU" sz="3200" b="1"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𝑻𝒆𝒓𝒎</m:t>
                    </m:r>
                  </m:oMath>
                </a14:m>
                <a:r>
                  <a:rPr lang="ru-RU" sz="3200" dirty="0" smtClean="0"/>
                  <a:t>)</a:t>
                </a:r>
                <a:endParaRPr lang="ru-RU" sz="3200" dirty="0"/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2696586"/>
                <a:ext cx="7176195" cy="815416"/>
              </a:xfrm>
              <a:prstGeom prst="rect">
                <a:avLst/>
              </a:prstGeom>
              <a:blipFill>
                <a:blip r:embed="rId3"/>
                <a:stretch>
                  <a:fillRect r="-1105" b="-97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393155" y="1907953"/>
            <a:ext cx="413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i="1" dirty="0" smtClean="0"/>
              <a:t>Формула</a:t>
            </a:r>
            <a:r>
              <a:rPr lang="en-US" sz="2400" i="1" dirty="0" smtClean="0"/>
              <a:t> </a:t>
            </a:r>
            <a:r>
              <a:rPr lang="ru-RU" sz="2400" i="1" dirty="0" smtClean="0"/>
              <a:t>без</a:t>
            </a:r>
            <a:r>
              <a:rPr lang="ru-RU" sz="2400" i="1" dirty="0" smtClean="0"/>
              <a:t> </a:t>
            </a:r>
            <a:r>
              <a:rPr lang="ru-RU" sz="2400" i="1" dirty="0" smtClean="0"/>
              <a:t>капитализации: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125205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/>
              <a:t>2</a:t>
            </a:r>
            <a:r>
              <a:rPr lang="en-US" sz="6000" b="1" dirty="0" smtClean="0"/>
              <a:t>. </a:t>
            </a:r>
            <a:r>
              <a:rPr lang="ru-RU" sz="6000" b="1" dirty="0" smtClean="0"/>
              <a:t>Шаблон</a:t>
            </a:r>
            <a:endParaRPr lang="uk-UA" sz="6000" b="1" dirty="0"/>
          </a:p>
        </p:txBody>
      </p:sp>
    </p:spTree>
    <p:extLst>
      <p:ext uri="{BB962C8B-B14F-4D97-AF65-F5344CB8AC3E}">
        <p14:creationId xmlns:p14="http://schemas.microsoft.com/office/powerpoint/2010/main" val="339921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0" y="332656"/>
            <a:ext cx="12192000" cy="583574"/>
          </a:xfrm>
        </p:spPr>
        <p:txBody>
          <a:bodyPr>
            <a:normAutofit/>
          </a:bodyPr>
          <a:lstStyle/>
          <a:p>
            <a:r>
              <a:rPr lang="ru-RU" sz="2800" b="1" dirty="0"/>
              <a:t>Скачайте шаблон для решения задачи</a:t>
            </a:r>
          </a:p>
        </p:txBody>
      </p:sp>
      <p:sp>
        <p:nvSpPr>
          <p:cNvPr id="15" name="Номер слайда 36"/>
          <p:cNvSpPr txBox="1">
            <a:spLocks/>
          </p:cNvSpPr>
          <p:nvPr/>
        </p:nvSpPr>
        <p:spPr>
          <a:xfrm>
            <a:off x="11424592" y="6237312"/>
            <a:ext cx="486054" cy="324036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/>
          <a:lstStyle/>
          <a:p>
            <a:pPr algn="ctr">
              <a:defRPr/>
            </a:pPr>
            <a:fld id="{6389AA22-90B4-448C-8B6B-C699140D38B9}" type="slidenum">
              <a:rPr lang="uk-UA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7</a:t>
            </a:fld>
            <a:endParaRPr lang="uk-UA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84765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hlinkClick r:id="rId2"/>
              </a:rPr>
              <a:t>https://</a:t>
            </a:r>
            <a:r>
              <a:rPr lang="en-US" sz="2400" b="1" dirty="0" smtClean="0">
                <a:hlinkClick r:id="rId2"/>
              </a:rPr>
              <a:t>filebase.xyz/storage/qa/deposit-calc.html</a:t>
            </a:r>
            <a:endParaRPr lang="uk-UA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96752"/>
            <a:ext cx="12191999" cy="42892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05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600" b="1" dirty="0" smtClean="0"/>
              <a:t>3. Выгружаем на хостинг</a:t>
            </a:r>
            <a:endParaRPr lang="ru-RU" sz="6600" b="1" dirty="0"/>
          </a:p>
        </p:txBody>
      </p:sp>
    </p:spTree>
    <p:extLst>
      <p:ext uri="{BB962C8B-B14F-4D97-AF65-F5344CB8AC3E}">
        <p14:creationId xmlns:p14="http://schemas.microsoft.com/office/powerpoint/2010/main" val="397981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88396" y="375750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NeoCities.org – </a:t>
            </a:r>
            <a:r>
              <a:rPr lang="ru-RU" sz="3600" b="1" dirty="0"/>
              <a:t>статический хостинг</a:t>
            </a:r>
            <a:endParaRPr lang="en-US" sz="3600" b="1" dirty="0"/>
          </a:p>
        </p:txBody>
      </p:sp>
      <p:sp>
        <p:nvSpPr>
          <p:cNvPr id="4" name="Номер слайда 36"/>
          <p:cNvSpPr txBox="1">
            <a:spLocks/>
          </p:cNvSpPr>
          <p:nvPr/>
        </p:nvSpPr>
        <p:spPr>
          <a:xfrm>
            <a:off x="11208568" y="617401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04112" y="1812880"/>
            <a:ext cx="37524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Статический хостинг </a:t>
            </a:r>
            <a:r>
              <a:rPr lang="ru-RU" sz="2400" dirty="0"/>
              <a:t>– хостинг которых предлагает только размещение файлов сайта. Подходит для сайтов которым не нужны серверные инструменты (например: </a:t>
            </a:r>
            <a:r>
              <a:rPr lang="en-US" sz="2400" dirty="0"/>
              <a:t>PHP </a:t>
            </a:r>
            <a:r>
              <a:rPr lang="ru-RU" sz="2400" dirty="0"/>
              <a:t>сценарии, база данных и т.п.).</a:t>
            </a:r>
            <a:endParaRPr lang="uk-UA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007769" y="5805265"/>
            <a:ext cx="3916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hlinkClick r:id="rId2"/>
              </a:rPr>
              <a:t>https://neocities.org/</a:t>
            </a:r>
            <a:endParaRPr lang="uk-UA" sz="32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628800"/>
            <a:ext cx="5645773" cy="37444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468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3566</TotalTime>
  <Words>155</Words>
  <Application>Microsoft Office PowerPoint</Application>
  <PresentationFormat>Широкоэкранный</PresentationFormat>
  <Paragraphs>26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Segoe UI Semibold</vt:lpstr>
      <vt:lpstr>Тема Office</vt:lpstr>
      <vt:lpstr>Презентация PowerPoint</vt:lpstr>
      <vt:lpstr>Презентация PowerPoint</vt:lpstr>
      <vt:lpstr>Презентация PowerPoint</vt:lpstr>
      <vt:lpstr>Депозитный калькулятор</vt:lpstr>
      <vt:lpstr>Депозитный калькулятор</vt:lpstr>
      <vt:lpstr>Презентация PowerPoint</vt:lpstr>
      <vt:lpstr>Скачайте шаблон для решения задачи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Вступление</dc:title>
  <dc:creator>user</dc:creator>
  <cp:lastModifiedBy>Anatoliy Kigel</cp:lastModifiedBy>
  <cp:revision>454</cp:revision>
  <dcterms:created xsi:type="dcterms:W3CDTF">2014-11-20T09:08:59Z</dcterms:created>
  <dcterms:modified xsi:type="dcterms:W3CDTF">2020-12-01T20:59:54Z</dcterms:modified>
</cp:coreProperties>
</file>